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27432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HR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4206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Demo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5564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DEECF1"/>
                </a:solidFill>
                <a:latin typeface="Aptos"/>
              </a:rPr>
              <a:t>Module overview + mock-up walkthrough pack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685800"/>
            <a:ext cx="5394960" cy="2834640"/>
          </a:xfrm>
          <a:prstGeom prst="roundRect">
            <a:avLst/>
          </a:prstGeom>
          <a:solidFill>
            <a:srgbClr val="FCFCF9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pic>
        <p:nvPicPr>
          <p:cNvPr id="6" name="Picture 5" descr="02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678" y="685800"/>
            <a:ext cx="1756403" cy="2834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06440" y="1188720"/>
            <a:ext cx="5394960" cy="2834640"/>
          </a:xfrm>
          <a:prstGeom prst="roundRect">
            <a:avLst/>
          </a:prstGeom>
          <a:solidFill>
            <a:srgbClr val="FCFCF9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pic>
        <p:nvPicPr>
          <p:cNvPr id="8" name="Picture 7" descr="12-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242" y="1188720"/>
            <a:ext cx="4515355" cy="2834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26480" y="1691640"/>
            <a:ext cx="5394960" cy="2834640"/>
          </a:xfrm>
          <a:prstGeom prst="roundRect">
            <a:avLst/>
          </a:prstGeom>
          <a:solidFill>
            <a:srgbClr val="FCFCF9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pic>
        <p:nvPicPr>
          <p:cNvPr id="10" name="Picture 9" descr="20-quick-appro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268" y="1691640"/>
            <a:ext cx="3001383" cy="28346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46520" y="2194560"/>
            <a:ext cx="5394960" cy="2834640"/>
          </a:xfrm>
          <a:prstGeom prst="roundRect">
            <a:avLst/>
          </a:prstGeom>
          <a:solidFill>
            <a:srgbClr val="FCFCF9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pic>
        <p:nvPicPr>
          <p:cNvPr id="12" name="Picture 11" descr="14-payroll-set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322" y="2194560"/>
            <a:ext cx="4515355" cy="28346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5800" y="4800600"/>
            <a:ext cx="1298448" cy="822960"/>
          </a:xfrm>
          <a:prstGeom prst="roundRect">
            <a:avLst/>
          </a:prstGeom>
          <a:solidFill>
            <a:srgbClr val="1F4162"/>
          </a:solidFill>
          <a:ln w="10160">
            <a:solidFill>
              <a:srgbClr val="4B7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901184"/>
            <a:ext cx="457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56048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850" b="0">
                <a:solidFill>
                  <a:srgbClr val="DEECF1"/>
                </a:solidFill>
                <a:latin typeface="Aptos"/>
              </a:rPr>
              <a:t>module overviews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4800600"/>
            <a:ext cx="1298448" cy="822960"/>
          </a:xfrm>
          <a:prstGeom prst="roundRect">
            <a:avLst/>
          </a:prstGeom>
          <a:solidFill>
            <a:srgbClr val="1F4162"/>
          </a:solidFill>
          <a:ln w="10160">
            <a:solidFill>
              <a:srgbClr val="4B7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04288" y="4901184"/>
            <a:ext cx="457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956048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850" b="0">
                <a:solidFill>
                  <a:srgbClr val="DEECF1"/>
                </a:solidFill>
                <a:latin typeface="Aptos"/>
              </a:rPr>
              <a:t>screen captures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4800600"/>
            <a:ext cx="1298448" cy="822960"/>
          </a:xfrm>
          <a:prstGeom prst="roundRect">
            <a:avLst/>
          </a:prstGeom>
          <a:solidFill>
            <a:srgbClr val="1F4162"/>
          </a:solidFill>
          <a:ln w="10160">
            <a:solidFill>
              <a:srgbClr val="4B7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8768" y="4901184"/>
            <a:ext cx="457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956048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850" b="0">
                <a:solidFill>
                  <a:srgbClr val="DEECF1"/>
                </a:solidFill>
                <a:latin typeface="Aptos"/>
              </a:rPr>
              <a:t>backend claims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89320"/>
            <a:ext cx="57607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DEECF1"/>
                </a:solidFill>
                <a:latin typeface="Aptos"/>
              </a:rPr>
              <a:t>Prepared for app demo / design sign-off discussion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6446520"/>
            <a:ext cx="1828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50" b="0">
                <a:solidFill>
                  <a:srgbClr val="DEECF1"/>
                </a:solidFill>
                <a:latin typeface="Aptos"/>
              </a:rPr>
              <a:t>HR App Demo Showcase  •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400" b="1">
                <a:solidFill>
                  <a:srgbClr val="18304E"/>
                </a:solidFill>
                <a:latin typeface="Aptos"/>
              </a:rPr>
              <a:t>Demo storyline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78638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5D6976"/>
                </a:solidFill>
                <a:latin typeface="Aptos"/>
              </a:rPr>
              <a:t>โชว์ให้เห็น end-to-end และบอกคนดูว่าจะต้องมองอะไรในแต่ละ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50" b="0">
                <a:solidFill>
                  <a:srgbClr val="5D6976"/>
                </a:solidFill>
                <a:latin typeface="Aptos"/>
              </a:rPr>
              <a:t>HR App Demo Showcase  •  2/11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331720" cy="23317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84831"/>
            <a:ext cx="594360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5979"/>
            <a:ext cx="50292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187451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Employee self-service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44952"/>
            <a:ext cx="1874519" cy="74980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222B35"/>
                </a:solidFill>
                <a:latin typeface="Aptos"/>
              </a:rPr>
              <a:t>ดูข้อมูล profile, leave, payslip, benefit และ service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2743200"/>
            <a:ext cx="228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2200" b="1">
                <a:solidFill>
                  <a:srgbClr val="11868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828800"/>
            <a:ext cx="2331720" cy="23317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0752" y="2084831"/>
            <a:ext cx="594360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2125979"/>
            <a:ext cx="50292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542032"/>
            <a:ext cx="187451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Manager / HRBP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044952"/>
            <a:ext cx="1874519" cy="74980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222B35"/>
                </a:solidFill>
                <a:latin typeface="Aptos"/>
              </a:rPr>
              <a:t>ใช้ Quick Approve เป็นจุดรวม action และ wording ของ risk/caveat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4456" y="2743200"/>
            <a:ext cx="228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2200" b="1">
                <a:solidFill>
                  <a:srgbClr val="11868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1828800"/>
            <a:ext cx="2331720" cy="23317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47104" y="2084831"/>
            <a:ext cx="594360" cy="256032"/>
          </a:xfrm>
          <a:prstGeom prst="roundRect">
            <a:avLst/>
          </a:prstGeom>
          <a:solidFill>
            <a:srgbClr val="5B6BB2"/>
          </a:solidFill>
          <a:ln>
            <a:solidFill>
              <a:srgbClr val="5B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2824" y="2125979"/>
            <a:ext cx="50292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542032"/>
            <a:ext cx="187451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HR / Payroll readiness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044952"/>
            <a:ext cx="1874519" cy="74980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222B35"/>
                </a:solidFill>
                <a:latin typeface="Aptos"/>
              </a:rPr>
              <a:t>ยืนยัน setup, review, report, owner sign-off ก่อน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743200"/>
            <a:ext cx="228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2200" b="1">
                <a:solidFill>
                  <a:srgbClr val="11868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34856" y="1828800"/>
            <a:ext cx="2331720" cy="23317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63456" y="2084831"/>
            <a:ext cx="594360" cy="256032"/>
          </a:xfrm>
          <a:prstGeom prst="roundRect">
            <a:avLst/>
          </a:prstGeom>
          <a:solidFill>
            <a:srgbClr val="5B6BB2"/>
          </a:solidFill>
          <a:ln>
            <a:solidFill>
              <a:srgbClr val="5B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9176" y="2125979"/>
            <a:ext cx="50292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2542032"/>
            <a:ext cx="187451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Design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3044952"/>
            <a:ext cx="1874519" cy="74980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222B35"/>
                </a:solidFill>
                <a:latin typeface="Aptos"/>
              </a:rPr>
              <a:t>เก็บ decision: field, owner, policy, backend-later contract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892040"/>
            <a:ext cx="10241280" cy="749808"/>
          </a:xfrm>
          <a:prstGeom prst="roundRect">
            <a:avLst/>
          </a:prstGeom>
          <a:solidFill>
            <a:srgbClr val="D5EFE9"/>
          </a:solidFill>
          <a:ln w="10160">
            <a:solidFill>
              <a:srgbClr val="B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138928"/>
            <a:ext cx="9601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200" b="1">
                <a:solidFill>
                  <a:srgbClr val="118680"/>
                </a:solidFill>
                <a:latin typeface="Aptos"/>
              </a:rPr>
              <a:t>Deck update: added one overview slide per module and resized mock-up captures so every page sits inside a consistent frame.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400" b="1">
                <a:solidFill>
                  <a:srgbClr val="18304E"/>
                </a:solidFill>
                <a:latin typeface="Aptos"/>
              </a:rPr>
              <a:t>Module overview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78638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5D6976"/>
                </a:solidFill>
                <a:latin typeface="Aptos"/>
              </a:rPr>
              <a:t>แต่ละ module มี “where to look”, “main data focus”, และ “presenter storyline” ก่อนเข้า mock-up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50" b="0">
                <a:solidFill>
                  <a:srgbClr val="5D6976"/>
                </a:solidFill>
                <a:latin typeface="Aptos"/>
              </a:rPr>
              <a:t>HR App Demo Showcase  •  3/11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52760" cy="603504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1490472"/>
            <a:ext cx="530352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531619"/>
            <a:ext cx="438912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7218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50" b="1">
                <a:solidFill>
                  <a:srgbClr val="18304E"/>
                </a:solidFill>
                <a:latin typeface="Aptos"/>
              </a:rPr>
              <a:t>Employee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72184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1">
                <a:solidFill>
                  <a:srgbClr val="118680"/>
                </a:solidFill>
                <a:latin typeface="Aptos"/>
              </a:rPr>
              <a:t>Profile is the source-of-truth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472184"/>
            <a:ext cx="39776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19" b="0">
                <a:solidFill>
                  <a:srgbClr val="222B35"/>
                </a:solidFill>
                <a:latin typeface="Aptos"/>
              </a:rPr>
              <a:t>Profile header, tabs, documents, lifecycle copy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67128"/>
            <a:ext cx="10652760" cy="603504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" y="2331720"/>
            <a:ext cx="530352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2372868"/>
            <a:ext cx="438912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313432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50" b="1">
                <a:solidFill>
                  <a:srgbClr val="18304E"/>
                </a:solidFill>
                <a:latin typeface="Aptos"/>
              </a:rPr>
              <a:t>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313432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1">
                <a:solidFill>
                  <a:srgbClr val="118680"/>
                </a:solidFill>
                <a:latin typeface="Aptos"/>
              </a:rPr>
              <a:t>Request + policy caveat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313432"/>
            <a:ext cx="39776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19" b="0">
                <a:solidFill>
                  <a:srgbClr val="222B35"/>
                </a:solidFill>
                <a:latin typeface="Aptos"/>
              </a:rPr>
              <a:t>Attendance, leave, OT, balances, approval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08376"/>
            <a:ext cx="10652760" cy="603504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3172968"/>
            <a:ext cx="530352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214116"/>
            <a:ext cx="438912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15468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50" b="1">
                <a:solidFill>
                  <a:srgbClr val="18304E"/>
                </a:solidFill>
                <a:latin typeface="Aptos"/>
              </a:rPr>
              <a:t>Quick Approve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154680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1">
                <a:solidFill>
                  <a:srgbClr val="118680"/>
                </a:solidFill>
                <a:latin typeface="Aptos"/>
              </a:rPr>
              <a:t>One place to 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154680"/>
            <a:ext cx="39776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19" b="0">
                <a:solidFill>
                  <a:srgbClr val="222B35"/>
                </a:solidFill>
                <a:latin typeface="Aptos"/>
              </a:rPr>
              <a:t>Risk wording, masked data, approve/return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849624"/>
            <a:ext cx="10652760" cy="603504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014215"/>
            <a:ext cx="530352" cy="256032"/>
          </a:xfrm>
          <a:prstGeom prst="roundRect">
            <a:avLst/>
          </a:prstGeom>
          <a:solidFill>
            <a:srgbClr val="5B6BB2"/>
          </a:solidFill>
          <a:ln>
            <a:solidFill>
              <a:srgbClr val="5B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055363"/>
            <a:ext cx="438912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995928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50" b="1">
                <a:solidFill>
                  <a:srgbClr val="18304E"/>
                </a:solidFill>
                <a:latin typeface="Aptos"/>
              </a:rPr>
              <a:t>Payroll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3995928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1">
                <a:solidFill>
                  <a:srgbClr val="118680"/>
                </a:solidFill>
                <a:latin typeface="Aptos"/>
              </a:rPr>
              <a:t>Payroll readiness, not correctness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995928"/>
            <a:ext cx="39776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19" b="0">
                <a:solidFill>
                  <a:srgbClr val="222B35"/>
                </a:solidFill>
                <a:latin typeface="Aptos"/>
              </a:rPr>
              <a:t>Setup, processing, reports, tax review caveats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690872"/>
            <a:ext cx="10652760" cy="603504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7552" y="4855464"/>
            <a:ext cx="530352" cy="256032"/>
          </a:xfrm>
          <a:prstGeom prst="roundRect">
            <a:avLst/>
          </a:prstGeom>
          <a:solidFill>
            <a:srgbClr val="5B6BB2"/>
          </a:solidFill>
          <a:ln>
            <a:solidFill>
              <a:srgbClr val="5B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" y="4896612"/>
            <a:ext cx="438912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837176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50" b="1">
                <a:solidFill>
                  <a:srgbClr val="18304E"/>
                </a:solidFill>
                <a:latin typeface="Aptos"/>
              </a:rPr>
              <a:t>Benefit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4837176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1">
                <a:solidFill>
                  <a:srgbClr val="118680"/>
                </a:solidFill>
                <a:latin typeface="Aptos"/>
              </a:rPr>
              <a:t>Benefit enrollment / claims / admin 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837176"/>
            <a:ext cx="39776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19" b="0">
                <a:solidFill>
                  <a:srgbClr val="222B35"/>
                </a:solidFill>
                <a:latin typeface="Aptos"/>
              </a:rPr>
              <a:t>Eligible plan, request status, policy owner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400" b="1">
                <a:solidFill>
                  <a:srgbClr val="18304E"/>
                </a:solidFill>
                <a:latin typeface="Aptos"/>
              </a:rPr>
              <a:t>Employee Center / Profile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78638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5D6976"/>
                </a:solidFill>
                <a:latin typeface="Aptos"/>
              </a:rPr>
              <a:t>หน้า overview เพื่อบอกโครงสร้าง design: ดูตรงไหน / focus อะไร / ขอบเขต mock คืออะไร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50" b="0">
                <a:solidFill>
                  <a:srgbClr val="5D6976"/>
                </a:solidFill>
                <a:latin typeface="Aptos"/>
              </a:rPr>
              <a:t>HR App Demo Showcase  •  4/11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6812280" cy="4800600"/>
          </a:xfrm>
          <a:prstGeom prst="roundRect">
            <a:avLst/>
          </a:prstGeom>
          <a:solidFill>
            <a:srgbClr val="FCFCF9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444752"/>
            <a:ext cx="2377440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85900"/>
            <a:ext cx="228600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/employees/me/profile</a:t>
            </a:r>
          </a:p>
        </p:txBody>
      </p:sp>
      <p:pic>
        <p:nvPicPr>
          <p:cNvPr id="8" name="Picture 7" descr="02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66" y="1783080"/>
            <a:ext cx="2379643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5687568"/>
            <a:ext cx="6309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830" b="0">
                <a:solidFill>
                  <a:srgbClr val="5D6976"/>
                </a:solidFill>
                <a:latin typeface="Aptos"/>
              </a:rPr>
              <a:t>Mock-up page capture is contained in-frame (no crop/cut-off) for presenter walkthrough.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234440"/>
            <a:ext cx="4005072" cy="1170432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399032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Where to look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700784"/>
            <a:ext cx="342900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Start at profile header → scan tab navigation → open the active card/section → read caveat labels before discussing data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633472"/>
            <a:ext cx="4005072" cy="1389888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816352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Main data to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127248"/>
            <a:ext cx="34290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Personal + employment identity, document status, compensation/lifecycle caveats, approval-state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4005072" cy="1243584"/>
          </a:xfrm>
          <a:prstGeom prst="roundRect">
            <a:avLst/>
          </a:prstGeom>
          <a:solidFill>
            <a:srgbClr val="D5EFE9"/>
          </a:solidFill>
          <a:ln w="10160">
            <a:solidFill>
              <a:srgbClr val="B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43984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18680"/>
                </a:solidFill>
                <a:latin typeface="Aptos"/>
              </a:rPr>
              <a:t>Presenter storyline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36592"/>
            <a:ext cx="342900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Use this slide to align “profile จะดูตรงไหน” and separate employee-visible data from HR/Admin-only controls.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400" b="1">
                <a:solidFill>
                  <a:srgbClr val="18304E"/>
                </a:solidFill>
                <a:latin typeface="Aptos"/>
              </a:rPr>
              <a:t>Time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78638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5D6976"/>
                </a:solidFill>
                <a:latin typeface="Aptos"/>
              </a:rPr>
              <a:t>หน้า overview เพื่อบอกโครงสร้าง design: ดูตรงไหน / focus อะไร / ขอบเขต mock คืออะไร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50" b="0">
                <a:solidFill>
                  <a:srgbClr val="5D6976"/>
                </a:solidFill>
                <a:latin typeface="Aptos"/>
              </a:rPr>
              <a:t>HR App Demo Showcase  •  5/11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6812280" cy="4800600"/>
          </a:xfrm>
          <a:prstGeom prst="roundRect">
            <a:avLst/>
          </a:prstGeom>
          <a:solidFill>
            <a:srgbClr val="FCFCF9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444752"/>
            <a:ext cx="2377440" cy="256032"/>
          </a:xfrm>
          <a:prstGeom prst="roundRect">
            <a:avLst/>
          </a:prstGeom>
          <a:solidFill>
            <a:srgbClr val="5B6BB2"/>
          </a:solidFill>
          <a:ln>
            <a:solidFill>
              <a:srgbClr val="5B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85900"/>
            <a:ext cx="228600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/time + /timeoff + /overtime</a:t>
            </a:r>
          </a:p>
        </p:txBody>
      </p:sp>
      <p:pic>
        <p:nvPicPr>
          <p:cNvPr id="8" name="Picture 7" descr="12-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98" y="1783080"/>
            <a:ext cx="6117578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5687568"/>
            <a:ext cx="6309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830" b="0">
                <a:solidFill>
                  <a:srgbClr val="5D6976"/>
                </a:solidFill>
                <a:latin typeface="Aptos"/>
              </a:rPr>
              <a:t>Mock-up page capture is contained in-frame (no crop/cut-off) for presenter walkthrough.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234440"/>
            <a:ext cx="4005072" cy="1170432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399032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Where to look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700784"/>
            <a:ext cx="342900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Start at summary tiles → inspect request table/card → verify status/action → note policy caveat before approval.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633472"/>
            <a:ext cx="4005072" cy="1389888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816352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Main data to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127248"/>
            <a:ext cx="34290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Balance, request type, effective dates, manager approval state, policy caveat/TBD fields.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4005072" cy="1243584"/>
          </a:xfrm>
          <a:prstGeom prst="roundRect">
            <a:avLst/>
          </a:prstGeom>
          <a:solidFill>
            <a:srgbClr val="D5EFE9"/>
          </a:solidFill>
          <a:ln w="10160">
            <a:solidFill>
              <a:srgbClr val="B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43984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18680"/>
                </a:solidFill>
                <a:latin typeface="Aptos"/>
              </a:rPr>
              <a:t>Presenter storyline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36592"/>
            <a:ext cx="342900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Position Time as an approval walkthrough, not a policy-calculation proof.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400" b="1">
                <a:solidFill>
                  <a:srgbClr val="18304E"/>
                </a:solidFill>
                <a:latin typeface="Aptos"/>
              </a:rPr>
              <a:t>Quick Approve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78638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5D6976"/>
                </a:solidFill>
                <a:latin typeface="Aptos"/>
              </a:rPr>
              <a:t>หน้า overview เพื่อบอกโครงสร้าง design: ดูตรงไหน / focus อะไร / ขอบเขต mock คืออะไร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50" b="0">
                <a:solidFill>
                  <a:srgbClr val="5D6976"/>
                </a:solidFill>
                <a:latin typeface="Aptos"/>
              </a:rPr>
              <a:t>HR App Demo Showcase  •  6/11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6812280" cy="4800600"/>
          </a:xfrm>
          <a:prstGeom prst="roundRect">
            <a:avLst/>
          </a:prstGeom>
          <a:solidFill>
            <a:srgbClr val="FCFCF9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444752"/>
            <a:ext cx="2377440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85900"/>
            <a:ext cx="228600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/quick-approve</a:t>
            </a:r>
          </a:p>
        </p:txBody>
      </p:sp>
      <p:pic>
        <p:nvPicPr>
          <p:cNvPr id="8" name="Picture 7" descr="20-quick-appr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292" y="1783080"/>
            <a:ext cx="406639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5687568"/>
            <a:ext cx="6309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830" b="0">
                <a:solidFill>
                  <a:srgbClr val="5D6976"/>
                </a:solidFill>
                <a:latin typeface="Aptos"/>
              </a:rPr>
              <a:t>Mock-up page capture is contained in-frame (no crop/cut-off) for presenter walkthrough.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234440"/>
            <a:ext cx="4005072" cy="1170432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399032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Where to look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700784"/>
            <a:ext cx="342900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Start at action-required queue → open detail context → check risk/caveat banner → choose approve/return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633472"/>
            <a:ext cx="4005072" cy="1389888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816352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Main data to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127248"/>
            <a:ext cx="34290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Decision queue, masked sensitive values, risk language, approve / return / reject reason.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4005072" cy="1243584"/>
          </a:xfrm>
          <a:prstGeom prst="roundRect">
            <a:avLst/>
          </a:prstGeom>
          <a:solidFill>
            <a:srgbClr val="D5EFE9"/>
          </a:solidFill>
          <a:ln w="10160">
            <a:solidFill>
              <a:srgbClr val="B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43984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18680"/>
                </a:solidFill>
                <a:latin typeface="Aptos"/>
              </a:rPr>
              <a:t>Presenter storyline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36592"/>
            <a:ext cx="342900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Use Quick Approve as the anchor for Manager, HRBP, SPD decision alignment.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400" b="1">
                <a:solidFill>
                  <a:srgbClr val="18304E"/>
                </a:solidFill>
                <a:latin typeface="Aptos"/>
              </a:rPr>
              <a:t>Payroll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78638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5D6976"/>
                </a:solidFill>
                <a:latin typeface="Aptos"/>
              </a:rPr>
              <a:t>หน้า overview เพื่อบอกโครงสร้าง design: ดูตรงไหน / focus อะไร / ขอบเขต mock คืออะไร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50" b="0">
                <a:solidFill>
                  <a:srgbClr val="5D6976"/>
                </a:solidFill>
                <a:latin typeface="Aptos"/>
              </a:rPr>
              <a:t>HR App Demo Showcase  •  7/11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6812280" cy="4800600"/>
          </a:xfrm>
          <a:prstGeom prst="roundRect">
            <a:avLst/>
          </a:prstGeom>
          <a:solidFill>
            <a:srgbClr val="FCFCF9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444752"/>
            <a:ext cx="2377440" cy="256032"/>
          </a:xfrm>
          <a:prstGeom prst="roundRect">
            <a:avLst/>
          </a:prstGeom>
          <a:solidFill>
            <a:srgbClr val="E89340"/>
          </a:solidFill>
          <a:ln>
            <a:solidFill>
              <a:srgbClr val="E89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85900"/>
            <a:ext cx="228600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/payroll/setup</a:t>
            </a:r>
          </a:p>
        </p:txBody>
      </p:sp>
      <p:pic>
        <p:nvPicPr>
          <p:cNvPr id="8" name="Picture 7" descr="14-payroll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98" y="1783080"/>
            <a:ext cx="6117578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5687568"/>
            <a:ext cx="6309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830" b="0">
                <a:solidFill>
                  <a:srgbClr val="5D6976"/>
                </a:solidFill>
                <a:latin typeface="Aptos"/>
              </a:rPr>
              <a:t>Mock-up page capture is contained in-frame (no crop/cut-off) for presenter walkthrough.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234440"/>
            <a:ext cx="4005072" cy="1170432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399032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Where to look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700784"/>
            <a:ext cx="342900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Start at payroll setup → check readiness table → separate preview/download mock action from backend payroll correctness.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633472"/>
            <a:ext cx="4005072" cy="1389888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816352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Main data to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127248"/>
            <a:ext cx="34290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Payroll setup completeness, processing status, government report preview, tax-review caveat.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4005072" cy="1243584"/>
          </a:xfrm>
          <a:prstGeom prst="roundRect">
            <a:avLst/>
          </a:prstGeom>
          <a:solidFill>
            <a:srgbClr val="D5EFE9"/>
          </a:solidFill>
          <a:ln w="10160">
            <a:solidFill>
              <a:srgbClr val="B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43984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18680"/>
                </a:solidFill>
                <a:latin typeface="Aptos"/>
              </a:rPr>
              <a:t>Presenter storyline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36592"/>
            <a:ext cx="342900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Be explicit: visual readiness only; numbers/calculation are non-binding until backend/data owner sign-off.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400" b="1">
                <a:solidFill>
                  <a:srgbClr val="18304E"/>
                </a:solidFill>
                <a:latin typeface="Aptos"/>
              </a:rPr>
              <a:t>Benefit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78638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5D6976"/>
                </a:solidFill>
                <a:latin typeface="Aptos"/>
              </a:rPr>
              <a:t>หน้า overview เพื่อบอกโครงสร้าง design: ดูตรงไหน / focus อะไร / ขอบเขต mock คืออะไร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50" b="0">
                <a:solidFill>
                  <a:srgbClr val="5D6976"/>
                </a:solidFill>
                <a:latin typeface="Aptos"/>
              </a:rPr>
              <a:t>HR App Demo Showcase  •  8/11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6812280" cy="4800600"/>
          </a:xfrm>
          <a:prstGeom prst="roundRect">
            <a:avLst/>
          </a:prstGeom>
          <a:solidFill>
            <a:srgbClr val="FCFCF9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444752"/>
            <a:ext cx="2377440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85900"/>
            <a:ext cx="228600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/benefits hub / claims</a:t>
            </a:r>
          </a:p>
        </p:txBody>
      </p:sp>
      <p:pic>
        <p:nvPicPr>
          <p:cNvPr id="8" name="Picture 7" descr="ac-3-after-click-benefits-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37935"/>
            <a:ext cx="6309360" cy="27307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5687568"/>
            <a:ext cx="6309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830" b="0">
                <a:solidFill>
                  <a:srgbClr val="5D6976"/>
                </a:solidFill>
                <a:latin typeface="Aptos"/>
              </a:rPr>
              <a:t>Mock-up page capture is contained in-frame (no crop/cut-off) for presenter walkthrough.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234440"/>
            <a:ext cx="4005072" cy="1170432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399032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Where to look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700784"/>
            <a:ext cx="342900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Start at benefit hub → pick request/claim card → confirm owner/status → mark backend-later dependencies.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633472"/>
            <a:ext cx="4005072" cy="1389888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816352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Main data to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127248"/>
            <a:ext cx="34290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Benefit eligibility, claim/request status, documents, approver/admin owner, payment/referral caveat.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4005072" cy="1243584"/>
          </a:xfrm>
          <a:prstGeom prst="roundRect">
            <a:avLst/>
          </a:prstGeom>
          <a:solidFill>
            <a:srgbClr val="D5EFE9"/>
          </a:solidFill>
          <a:ln w="10160">
            <a:solidFill>
              <a:srgbClr val="B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43984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18680"/>
                </a:solidFill>
                <a:latin typeface="Aptos"/>
              </a:rPr>
              <a:t>Presenter storyline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36592"/>
            <a:ext cx="342900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00" b="0">
                <a:solidFill>
                  <a:srgbClr val="222B35"/>
                </a:solidFill>
                <a:latin typeface="Aptos"/>
              </a:rPr>
              <a:t>Keep focus on member journey and admin control points, not insurer/payment integration proof.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400" b="1">
                <a:solidFill>
                  <a:srgbClr val="18304E"/>
                </a:solidFill>
                <a:latin typeface="Aptos"/>
              </a:rPr>
              <a:t>Suggested live demo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78638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5D6976"/>
                </a:solidFill>
                <a:latin typeface="Aptos"/>
              </a:rPr>
              <a:t>ใช้ sequence นี้เพื่อให้ story ลื่นและทุก module มี overview ก่อนเข้าหน้าจอจริง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50" b="0">
                <a:solidFill>
                  <a:srgbClr val="5D6976"/>
                </a:solidFill>
                <a:latin typeface="Aptos"/>
              </a:rPr>
              <a:t>HR App Demo Showcase  •  9/11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218688" cy="1170432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1600200"/>
            <a:ext cx="566928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1348"/>
            <a:ext cx="475488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627632"/>
            <a:ext cx="19202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Home / Employee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1984248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980" b="0">
                <a:solidFill>
                  <a:srgbClr val="222B35"/>
                </a:solidFill>
                <a:latin typeface="Aptos"/>
              </a:rPr>
              <a:t>ยืนยัน persona + employee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218688" cy="1170432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0288" y="1600200"/>
            <a:ext cx="566928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641348"/>
            <a:ext cx="475488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1627632"/>
            <a:ext cx="19202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Profile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1984248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980" b="0">
                <a:solidFill>
                  <a:srgbClr val="222B35"/>
                </a:solidFill>
                <a:latin typeface="Aptos"/>
              </a:rPr>
              <a:t>ดู header, tabs, main profile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417320"/>
            <a:ext cx="3218688" cy="1170432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57616" y="1600200"/>
            <a:ext cx="566928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641348"/>
            <a:ext cx="475488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1627632"/>
            <a:ext cx="19202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Time / Leave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704" y="1984248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980" b="0">
                <a:solidFill>
                  <a:srgbClr val="222B35"/>
                </a:solidFill>
                <a:latin typeface="Aptos"/>
              </a:rPr>
              <a:t>request + policy caveat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319272"/>
            <a:ext cx="3218688" cy="1170432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59" y="3502152"/>
            <a:ext cx="566928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43300"/>
            <a:ext cx="475488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3529584"/>
            <a:ext cx="19202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Quick Approve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3886200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980" b="0">
                <a:solidFill>
                  <a:srgbClr val="222B35"/>
                </a:solidFill>
                <a:latin typeface="Aptos"/>
              </a:rPr>
              <a:t>manager action + return reason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3319272"/>
            <a:ext cx="3218688" cy="1170432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90288" y="3502152"/>
            <a:ext cx="566928" cy="256032"/>
          </a:xfrm>
          <a:prstGeom prst="roundRect">
            <a:avLst/>
          </a:prstGeom>
          <a:solidFill>
            <a:srgbClr val="5B6BB2"/>
          </a:solidFill>
          <a:ln>
            <a:solidFill>
              <a:srgbClr val="5B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7" y="3543300"/>
            <a:ext cx="475488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4376" y="3529584"/>
            <a:ext cx="19202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Payroll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4376" y="3886200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980" b="0">
                <a:solidFill>
                  <a:srgbClr val="222B35"/>
                </a:solidFill>
                <a:latin typeface="Aptos"/>
              </a:rPr>
              <a:t>setup/review, no correctness claim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3024" y="3319272"/>
            <a:ext cx="3218688" cy="1170432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57616" y="3502152"/>
            <a:ext cx="566928" cy="256032"/>
          </a:xfrm>
          <a:prstGeom prst="roundRect">
            <a:avLst/>
          </a:prstGeom>
          <a:solidFill>
            <a:srgbClr val="5B6BB2"/>
          </a:solidFill>
          <a:ln>
            <a:solidFill>
              <a:srgbClr val="5B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6" y="3543300"/>
            <a:ext cx="475488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1704" y="3529584"/>
            <a:ext cx="19202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00" b="1">
                <a:solidFill>
                  <a:srgbClr val="18304E"/>
                </a:solidFill>
                <a:latin typeface="Aptos"/>
              </a:rPr>
              <a:t>Benefit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4" y="3886200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980" b="0">
                <a:solidFill>
                  <a:srgbClr val="222B35"/>
                </a:solidFill>
                <a:latin typeface="Aptos"/>
              </a:rPr>
              <a:t>hub + claim/admin surface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486400"/>
            <a:ext cx="10149840" cy="502920"/>
          </a:xfrm>
          <a:prstGeom prst="roundRect">
            <a:avLst/>
          </a:prstGeom>
          <a:solidFill>
            <a:srgbClr val="D5EFE9"/>
          </a:solidFill>
          <a:ln w="10160">
            <a:solidFill>
              <a:srgbClr val="B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650992"/>
            <a:ext cx="96926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080" b="1">
                <a:solidFill>
                  <a:srgbClr val="118680"/>
                </a:solidFill>
                <a:latin typeface="Aptos"/>
              </a:rPr>
              <a:t>Presenter rule: each screen = explain where to look → call out primary data → clarify caveat/backend-later boundary.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400" b="1">
                <a:solidFill>
                  <a:srgbClr val="18304E"/>
                </a:solidFill>
                <a:latin typeface="Aptos"/>
              </a:rPr>
              <a:t>What this demo proves / does not 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78638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5D6976"/>
                </a:solidFill>
                <a:latin typeface="Aptos"/>
              </a:rPr>
              <a:t>ตั้ง expectation ให้ถูกก่อนเข้าห้อง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50" b="0">
                <a:solidFill>
                  <a:srgbClr val="5D6976"/>
                </a:solidFill>
                <a:latin typeface="Aptos"/>
              </a:rPr>
              <a:t>HR App Demo Showcase  •  10/11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983480" cy="425196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737360"/>
            <a:ext cx="1417320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78507"/>
            <a:ext cx="132588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PROVES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228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1">
                <a:solidFill>
                  <a:srgbClr val="11868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331720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150" b="1">
                <a:solidFill>
                  <a:srgbClr val="18304E"/>
                </a:solidFill>
                <a:latin typeface="Aptos"/>
              </a:rPr>
              <a:t>Visual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606039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950" b="0">
                <a:solidFill>
                  <a:srgbClr val="5D6976"/>
                </a:solidFill>
                <a:latin typeface="Aptos"/>
              </a:rPr>
              <a:t>UI looks coherent enough for stakeholder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64408"/>
            <a:ext cx="228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1">
                <a:solidFill>
                  <a:srgbClr val="11868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264408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150" b="1">
                <a:solidFill>
                  <a:srgbClr val="18304E"/>
                </a:solidFill>
                <a:latin typeface="Aptos"/>
              </a:rPr>
              <a:t>Module design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3538727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950" b="0">
                <a:solidFill>
                  <a:srgbClr val="5D6976"/>
                </a:solidFill>
                <a:latin typeface="Aptos"/>
              </a:rPr>
              <a:t>Each module has focus area and data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97096"/>
            <a:ext cx="228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1">
                <a:solidFill>
                  <a:srgbClr val="11868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4197096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150" b="1">
                <a:solidFill>
                  <a:srgbClr val="18304E"/>
                </a:solidFill>
                <a:latin typeface="Aptos"/>
              </a:rPr>
              <a:t>Persona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471416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950" b="0">
                <a:solidFill>
                  <a:srgbClr val="5D6976"/>
                </a:solidFill>
                <a:latin typeface="Aptos"/>
              </a:rPr>
              <a:t>Employee, Manager, HRBP, SPD/Admin paths visible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417320"/>
            <a:ext cx="4983480" cy="425196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0" y="1737360"/>
            <a:ext cx="1417320" cy="256032"/>
          </a:xfrm>
          <a:prstGeom prst="roundRect">
            <a:avLst/>
          </a:prstGeom>
          <a:solidFill>
            <a:srgbClr val="E89340"/>
          </a:solidFill>
          <a:ln>
            <a:solidFill>
              <a:srgbClr val="E89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778507"/>
            <a:ext cx="132588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DOES NOT 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331720"/>
            <a:ext cx="228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1">
                <a:solidFill>
                  <a:srgbClr val="E89340"/>
                </a:solidFill>
                <a:latin typeface="Aptos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2331720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150" b="1">
                <a:solidFill>
                  <a:srgbClr val="18304E"/>
                </a:solidFill>
                <a:latin typeface="Aptos"/>
              </a:rPr>
              <a:t>No backend/database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606039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950" b="0">
                <a:solidFill>
                  <a:srgbClr val="5D6976"/>
                </a:solidFill>
                <a:latin typeface="Aptos"/>
              </a:rPr>
              <a:t>Static/mock frontend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264408"/>
            <a:ext cx="228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1">
                <a:solidFill>
                  <a:srgbClr val="E89340"/>
                </a:solidFill>
                <a:latin typeface="Aptos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3264408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150" b="1">
                <a:solidFill>
                  <a:srgbClr val="18304E"/>
                </a:solidFill>
                <a:latin typeface="Aptos"/>
              </a:rPr>
              <a:t>No payroll correctness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3538727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950" b="0">
                <a:solidFill>
                  <a:srgbClr val="5D6976"/>
                </a:solidFill>
                <a:latin typeface="Aptos"/>
              </a:rPr>
              <a:t>Numbers and calculations are non-binding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197096"/>
            <a:ext cx="228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1">
                <a:solidFill>
                  <a:srgbClr val="E89340"/>
                </a:solidFill>
                <a:latin typeface="Aptos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4197096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150" b="1">
                <a:solidFill>
                  <a:srgbClr val="18304E"/>
                </a:solidFill>
                <a:latin typeface="Aptos"/>
              </a:rPr>
              <a:t>No workflow integration claim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4471416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950" b="0">
                <a:solidFill>
                  <a:srgbClr val="5D6976"/>
                </a:solidFill>
                <a:latin typeface="Aptos"/>
              </a:rPr>
              <a:t>SF/workflow/audit are backend-later contracts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Meeting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56692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300" b="0">
                <a:solidFill>
                  <a:srgbClr val="DEECF1"/>
                </a:solidFill>
                <a:latin typeface="Aptos"/>
              </a:rPr>
              <a:t>เป้าหมายคือ alignment และ design approval ก่อน 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424160" cy="749808"/>
          </a:xfrm>
          <a:prstGeom prst="roundRect">
            <a:avLst/>
          </a:prstGeom>
          <a:solidFill>
            <a:srgbClr val="1F4162"/>
          </a:solidFill>
          <a:ln w="10160">
            <a:solidFill>
              <a:srgbClr val="4B7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2029968"/>
            <a:ext cx="502920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71116"/>
            <a:ext cx="41148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11680"/>
            <a:ext cx="28346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Confirm module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029968"/>
            <a:ext cx="57607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DEECF1"/>
                </a:solidFill>
                <a:latin typeface="Aptos"/>
              </a:rPr>
              <a:t>แต่ละ module คนดูต้อง focus จุดไหนและ field ไหน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71800"/>
            <a:ext cx="10424160" cy="749808"/>
          </a:xfrm>
          <a:prstGeom prst="roundRect">
            <a:avLst/>
          </a:prstGeom>
          <a:solidFill>
            <a:srgbClr val="1F4162"/>
          </a:solidFill>
          <a:ln w="10160">
            <a:solidFill>
              <a:srgbClr val="4B7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3172968"/>
            <a:ext cx="502920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14116"/>
            <a:ext cx="41148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154680"/>
            <a:ext cx="28346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Validate mock-up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172968"/>
            <a:ext cx="57607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DEECF1"/>
                </a:solidFill>
                <a:latin typeface="Aptos"/>
              </a:rPr>
              <a:t>หน้าจอพอดี ไม่ถูก crop และใช้เป็น presenter reference ได้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14800"/>
            <a:ext cx="10424160" cy="749808"/>
          </a:xfrm>
          <a:prstGeom prst="roundRect">
            <a:avLst/>
          </a:prstGeom>
          <a:solidFill>
            <a:srgbClr val="1F4162"/>
          </a:solidFill>
          <a:ln w="10160">
            <a:solidFill>
              <a:srgbClr val="4B7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" y="4315968"/>
            <a:ext cx="502920" cy="256032"/>
          </a:xfrm>
          <a:prstGeom prst="roundRect">
            <a:avLst/>
          </a:prstGeom>
          <a:solidFill>
            <a:srgbClr val="118680"/>
          </a:solidFill>
          <a:ln>
            <a:solidFill>
              <a:srgbClr val="118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57116"/>
            <a:ext cx="41148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97680"/>
            <a:ext cx="28346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Capture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315968"/>
            <a:ext cx="57607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050" b="0">
                <a:solidFill>
                  <a:srgbClr val="DEECF1"/>
                </a:solidFill>
                <a:latin typeface="Aptos"/>
              </a:rPr>
              <a:t>backend, integration, policy, data owner, approval wording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715000"/>
            <a:ext cx="7315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Recommended output: signed-off storyboard + issue list for backend-later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6446520"/>
            <a:ext cx="1828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50" b="0">
                <a:solidFill>
                  <a:srgbClr val="DEECF1"/>
                </a:solidFill>
                <a:latin typeface="Aptos"/>
              </a:rPr>
              <a:t>HR App Demo Showcase  •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