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412480" y="-502920"/>
            <a:ext cx="4023360" cy="4023360"/>
          </a:xfrm>
          <a:prstGeom prst="ellipse">
            <a:avLst/>
          </a:prstGeom>
          <a:solidFill>
            <a:srgbClr val="1FA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784080" y="3520440"/>
            <a:ext cx="2194560" cy="2194560"/>
          </a:xfrm>
          <a:prstGeom prst="ellipse">
            <a:avLst/>
          </a:prstGeom>
          <a:solidFill>
            <a:srgbClr val="E8C4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543800" y="4480560"/>
            <a:ext cx="1143000" cy="1143000"/>
          </a:xfrm>
          <a:prstGeom prst="ellipse">
            <a:avLst/>
          </a:prstGeom>
          <a:solidFill>
            <a:srgbClr val="5B6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13232" y="640080"/>
            <a:ext cx="1572768" cy="310896"/>
          </a:xfrm>
          <a:prstGeom prst="roundRect">
            <a:avLst/>
          </a:prstGeom>
          <a:solidFill>
            <a:srgbClr val="1FA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717803"/>
            <a:ext cx="1481328" cy="91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1">
                <a:solidFill>
                  <a:srgbClr val="0E1B2C"/>
                </a:solidFill>
                <a:latin typeface="Aptos"/>
              </a:rPr>
              <a:t>DESIGN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417320"/>
            <a:ext cx="62179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Aptos Display"/>
              </a:rPr>
              <a:t>Humi System Design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240280"/>
            <a:ext cx="571500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E7E3D8"/>
                </a:solidFill>
                <a:latin typeface="Aptos"/>
              </a:rPr>
              <a:t>Cream canvas + navy ink + teal action system
for UI, mockups, and executive presentations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4160520"/>
            <a:ext cx="1572768" cy="822960"/>
          </a:xfrm>
          <a:prstGeom prst="roundRect">
            <a:avLst/>
          </a:prstGeom>
          <a:solidFill>
            <a:srgbClr val="243447"/>
          </a:solidFill>
          <a:ln w="10160">
            <a:solidFill>
              <a:srgbClr val="2434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4279392"/>
            <a:ext cx="43891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1FA8A0"/>
                </a:solidFill>
                <a:latin typeface="Aptos Display"/>
              </a:rPr>
              <a:t>17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89888" y="4315968"/>
            <a:ext cx="75895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E7E3D8"/>
                </a:solidFill>
                <a:latin typeface="Aptos"/>
              </a:rPr>
              <a:t>curated colors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78608" y="4160520"/>
            <a:ext cx="1572768" cy="822960"/>
          </a:xfrm>
          <a:prstGeom prst="roundRect">
            <a:avLst/>
          </a:prstGeom>
          <a:solidFill>
            <a:srgbClr val="243447"/>
          </a:solidFill>
          <a:ln w="10160">
            <a:solidFill>
              <a:srgbClr val="2434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24912" y="4279392"/>
            <a:ext cx="43891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E8C46B"/>
                </a:solidFill>
                <a:latin typeface="Aptos Display"/>
              </a:rPr>
              <a:t>18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18687" y="4315968"/>
            <a:ext cx="75895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E7E3D8"/>
                </a:solidFill>
                <a:latin typeface="Aptos"/>
              </a:rPr>
              <a:t>usable components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07408" y="4160520"/>
            <a:ext cx="1572768" cy="822960"/>
          </a:xfrm>
          <a:prstGeom prst="roundRect">
            <a:avLst/>
          </a:prstGeom>
          <a:solidFill>
            <a:srgbClr val="243447"/>
          </a:solidFill>
          <a:ln w="10160">
            <a:solidFill>
              <a:srgbClr val="2434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53712" y="4279392"/>
            <a:ext cx="43891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5B6CE0"/>
                </a:solidFill>
                <a:latin typeface="Aptos Display"/>
              </a:rPr>
              <a:t>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47488" y="4315968"/>
            <a:ext cx="75895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E7E3D8"/>
                </a:solidFill>
                <a:latin typeface="Aptos"/>
              </a:rPr>
              <a:t>lint warnings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54112" y="1115568"/>
            <a:ext cx="3337560" cy="3611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65008" y="1417320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0E1B2C"/>
                </a:solidFill>
                <a:latin typeface="Aptos"/>
              </a:rPr>
              <a:t>Presentation rhythm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92440" y="1847088"/>
            <a:ext cx="310896" cy="310896"/>
          </a:xfrm>
          <a:prstGeom prst="roundRect">
            <a:avLst/>
          </a:prstGeom>
          <a:solidFill>
            <a:srgbClr val="0E1B2C"/>
          </a:solidFill>
          <a:ln w="10160">
            <a:solidFill>
              <a:srgbClr val="E7DF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49640" y="1856231"/>
            <a:ext cx="105156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19" b="1">
                <a:solidFill>
                  <a:srgbClr val="0E1B2C"/>
                </a:solidFill>
                <a:latin typeface="Aptos"/>
              </a:rPr>
              <a:t>Ink cover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09760" y="1856231"/>
            <a:ext cx="123444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A6A7E"/>
                </a:solidFill>
                <a:latin typeface="Aptos"/>
              </a:rPr>
              <a:t>executive framing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92440" y="2350008"/>
            <a:ext cx="310896" cy="310896"/>
          </a:xfrm>
          <a:prstGeom prst="roundRect">
            <a:avLst/>
          </a:prstGeom>
          <a:solidFill>
            <a:srgbClr val="F6F1E8"/>
          </a:solidFill>
          <a:ln w="10160">
            <a:solidFill>
              <a:srgbClr val="E7DF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49640" y="2359152"/>
            <a:ext cx="105156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19" b="1">
                <a:solidFill>
                  <a:srgbClr val="0E1B2C"/>
                </a:solidFill>
                <a:latin typeface="Aptos"/>
              </a:rPr>
              <a:t>Cream content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09760" y="2359152"/>
            <a:ext cx="123444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A6A7E"/>
                </a:solidFill>
                <a:latin typeface="Aptos"/>
              </a:rPr>
              <a:t>calm readable canvas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92440" y="2852928"/>
            <a:ext cx="310896" cy="31089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7DF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49640" y="2862072"/>
            <a:ext cx="105156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19" b="1">
                <a:solidFill>
                  <a:srgbClr val="0E1B2C"/>
                </a:solidFill>
                <a:latin typeface="Aptos"/>
              </a:rPr>
              <a:t>White cards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09760" y="2862072"/>
            <a:ext cx="123444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A6A7E"/>
                </a:solidFill>
                <a:latin typeface="Aptos"/>
              </a:rPr>
              <a:t>modular UI blocks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92440" y="3355848"/>
            <a:ext cx="310896" cy="310896"/>
          </a:xfrm>
          <a:prstGeom prst="roundRect">
            <a:avLst/>
          </a:prstGeom>
          <a:solidFill>
            <a:srgbClr val="1FA8A0"/>
          </a:solidFill>
          <a:ln w="10160">
            <a:solidFill>
              <a:srgbClr val="E7DF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49640" y="3364991"/>
            <a:ext cx="105156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19" b="1">
                <a:solidFill>
                  <a:srgbClr val="0E1B2C"/>
                </a:solidFill>
                <a:latin typeface="Aptos"/>
              </a:rPr>
              <a:t>Teal decisions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09760" y="3364991"/>
            <a:ext cx="123444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A6A7E"/>
                </a:solidFill>
                <a:latin typeface="Aptos"/>
              </a:rPr>
              <a:t>primary action signal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92440" y="3858768"/>
            <a:ext cx="310896" cy="310896"/>
          </a:xfrm>
          <a:prstGeom prst="roundRect">
            <a:avLst/>
          </a:prstGeom>
          <a:solidFill>
            <a:srgbClr val="E8C46B"/>
          </a:solidFill>
          <a:ln w="10160">
            <a:solidFill>
              <a:srgbClr val="E7DF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549640" y="3867912"/>
            <a:ext cx="105156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19" b="1">
                <a:solidFill>
                  <a:srgbClr val="0E1B2C"/>
                </a:solidFill>
                <a:latin typeface="Aptos"/>
              </a:rPr>
              <a:t>Butter KPIs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09760" y="3867912"/>
            <a:ext cx="123444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A6A7E"/>
                </a:solidFill>
                <a:latin typeface="Aptos"/>
              </a:rPr>
              <a:t>warm emphasis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4360" y="6473952"/>
            <a:ext cx="38404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E7E3D8"/>
                </a:solidFill>
                <a:latin typeface="Aptos"/>
              </a:rPr>
              <a:t>Humi System Design · DESIGN.md · 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8046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0E1B2C"/>
                </a:solidFill>
                <a:latin typeface="Aptos Display"/>
              </a:rPr>
              <a:t>Curated token kit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96112"/>
            <a:ext cx="7772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5A6A7E"/>
                </a:solidFill>
                <a:latin typeface="Aptos"/>
              </a:rPr>
              <a:t>คัดเฉพาะ palette และ components ที่ใช้งานจริงใน UI /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38404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5A6A7E"/>
                </a:solidFill>
                <a:latin typeface="Aptos"/>
              </a:rPr>
              <a:t>Humi System Design · DESIGN.md · 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1417320"/>
            <a:ext cx="2331720" cy="8412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7DF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77824" y="1572768"/>
            <a:ext cx="530352" cy="530352"/>
          </a:xfrm>
          <a:prstGeom prst="roundRect">
            <a:avLst/>
          </a:prstGeom>
          <a:solidFill>
            <a:srgbClr val="1FA8A0"/>
          </a:solidFill>
          <a:ln w="10160">
            <a:solidFill>
              <a:srgbClr val="E7DF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54480" y="1581912"/>
            <a:ext cx="9144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0E1B2C"/>
                </a:solidFill>
                <a:latin typeface="Aptos"/>
              </a:rPr>
              <a:t>primary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810512"/>
            <a:ext cx="7772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A6A7E"/>
                </a:solidFill>
                <a:latin typeface="Aptos"/>
              </a:rPr>
              <a:t>#1FA8A0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31136" y="1719072"/>
            <a:ext cx="62179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19" b="0">
                <a:solidFill>
                  <a:srgbClr val="5A6A7E"/>
                </a:solidFill>
                <a:latin typeface="Aptos"/>
              </a:rPr>
              <a:t>CTA / active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02152" y="1417320"/>
            <a:ext cx="2331720" cy="8412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7DF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666744" y="1572768"/>
            <a:ext cx="530352" cy="530352"/>
          </a:xfrm>
          <a:prstGeom prst="roundRect">
            <a:avLst/>
          </a:prstGeom>
          <a:solidFill>
            <a:srgbClr val="5B6CE0"/>
          </a:solidFill>
          <a:ln w="10160">
            <a:solidFill>
              <a:srgbClr val="E7DF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43400" y="1581912"/>
            <a:ext cx="9144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0E1B2C"/>
                </a:solidFill>
                <a:latin typeface="Aptos"/>
              </a:rPr>
              <a:t>secondary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3400" y="1810512"/>
            <a:ext cx="7772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A6A7E"/>
                </a:solidFill>
                <a:latin typeface="Aptos"/>
              </a:rPr>
              <a:t>#5B6CE0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0056" y="1719072"/>
            <a:ext cx="62179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19" b="0">
                <a:solidFill>
                  <a:srgbClr val="5A6A7E"/>
                </a:solidFill>
                <a:latin typeface="Aptos"/>
              </a:rPr>
              <a:t>info / flow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91072" y="1417320"/>
            <a:ext cx="2331720" cy="8412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7DF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55664" y="1572768"/>
            <a:ext cx="530352" cy="530352"/>
          </a:xfrm>
          <a:prstGeom prst="roundRect">
            <a:avLst/>
          </a:prstGeom>
          <a:solidFill>
            <a:srgbClr val="F6F1E8"/>
          </a:solidFill>
          <a:ln w="10160">
            <a:solidFill>
              <a:srgbClr val="E7DF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0" y="1581912"/>
            <a:ext cx="9144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0E1B2C"/>
                </a:solidFill>
                <a:latin typeface="Aptos"/>
              </a:rPr>
              <a:t>canvas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0" y="1810512"/>
            <a:ext cx="7772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A6A7E"/>
                </a:solidFill>
                <a:latin typeface="Aptos"/>
              </a:rPr>
              <a:t>#F6F1E8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08975" y="1719072"/>
            <a:ext cx="62179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19" b="0">
                <a:solidFill>
                  <a:srgbClr val="5A6A7E"/>
                </a:solidFill>
                <a:latin typeface="Aptos"/>
              </a:rPr>
              <a:t>page bg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79991" y="1417320"/>
            <a:ext cx="2331720" cy="8412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7DF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244583" y="1572768"/>
            <a:ext cx="530352" cy="5303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7DF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921239" y="1581912"/>
            <a:ext cx="9144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0E1B2C"/>
                </a:solidFill>
                <a:latin typeface="Aptos"/>
              </a:rPr>
              <a:t>surface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21239" y="1810512"/>
            <a:ext cx="7772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A6A7E"/>
                </a:solidFill>
                <a:latin typeface="Aptos"/>
              </a:rPr>
              <a:t>#FFFFFF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97895" y="1719072"/>
            <a:ext cx="62179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19" b="0">
                <a:solidFill>
                  <a:srgbClr val="5A6A7E"/>
                </a:solidFill>
                <a:latin typeface="Aptos"/>
              </a:rPr>
              <a:t>cards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" y="2587752"/>
            <a:ext cx="2331720" cy="8412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7DF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77824" y="2743200"/>
            <a:ext cx="530352" cy="530352"/>
          </a:xfrm>
          <a:prstGeom prst="roundRect">
            <a:avLst/>
          </a:prstGeom>
          <a:solidFill>
            <a:srgbClr val="0E1B2C"/>
          </a:solidFill>
          <a:ln w="10160">
            <a:solidFill>
              <a:srgbClr val="E7DF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554480" y="2752344"/>
            <a:ext cx="9144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0E1B2C"/>
                </a:solidFill>
                <a:latin typeface="Aptos"/>
              </a:rPr>
              <a:t>ink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54480" y="2980944"/>
            <a:ext cx="7772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A6A7E"/>
                </a:solidFill>
                <a:latin typeface="Aptos"/>
              </a:rPr>
              <a:t>#0E1B2C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31136" y="2889504"/>
            <a:ext cx="62179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19" b="0">
                <a:solidFill>
                  <a:srgbClr val="5A6A7E"/>
                </a:solidFill>
                <a:latin typeface="Aptos"/>
              </a:rPr>
              <a:t>text / sidebar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502152" y="2587752"/>
            <a:ext cx="2331720" cy="8412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7DF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3666744" y="2743200"/>
            <a:ext cx="530352" cy="530352"/>
          </a:xfrm>
          <a:prstGeom prst="roundRect">
            <a:avLst/>
          </a:prstGeom>
          <a:solidFill>
            <a:srgbClr val="E8C46B"/>
          </a:solidFill>
          <a:ln w="10160">
            <a:solidFill>
              <a:srgbClr val="E7DF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43400" y="2752344"/>
            <a:ext cx="9144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0E1B2C"/>
                </a:solidFill>
                <a:latin typeface="Aptos"/>
              </a:rPr>
              <a:t>butter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43400" y="2980944"/>
            <a:ext cx="7772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A6A7E"/>
                </a:solidFill>
                <a:latin typeface="Aptos"/>
              </a:rPr>
              <a:t>#E8C46B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0056" y="2889504"/>
            <a:ext cx="62179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19" b="0">
                <a:solidFill>
                  <a:srgbClr val="5A6A7E"/>
                </a:solidFill>
                <a:latin typeface="Aptos"/>
              </a:rPr>
              <a:t>KPI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91072" y="2587752"/>
            <a:ext cx="2331720" cy="8412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7DF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455664" y="2743200"/>
            <a:ext cx="530352" cy="530352"/>
          </a:xfrm>
          <a:prstGeom prst="roundRect">
            <a:avLst/>
          </a:prstGeom>
          <a:solidFill>
            <a:srgbClr val="FFEDD5"/>
          </a:solidFill>
          <a:ln w="10160">
            <a:solidFill>
              <a:srgbClr val="E7DF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132320" y="2752344"/>
            <a:ext cx="9144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0E1B2C"/>
                </a:solidFill>
                <a:latin typeface="Aptos"/>
              </a:rPr>
              <a:t>dangerSoft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32320" y="2980944"/>
            <a:ext cx="7772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A6A7E"/>
                </a:solidFill>
                <a:latin typeface="Aptos"/>
              </a:rPr>
              <a:t>#FFEDD5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808975" y="2889504"/>
            <a:ext cx="62179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19" b="0">
                <a:solidFill>
                  <a:srgbClr val="5A6A7E"/>
                </a:solidFill>
                <a:latin typeface="Aptos"/>
              </a:rPr>
              <a:t>safe danger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079991" y="2587752"/>
            <a:ext cx="2331720" cy="8412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7DF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9244583" y="2743200"/>
            <a:ext cx="530352" cy="530352"/>
          </a:xfrm>
          <a:prstGeom prst="roundRect">
            <a:avLst/>
          </a:prstGeom>
          <a:solidFill>
            <a:srgbClr val="E7DFD1"/>
          </a:solidFill>
          <a:ln w="10160">
            <a:solidFill>
              <a:srgbClr val="E7DF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921239" y="2752344"/>
            <a:ext cx="9144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0E1B2C"/>
                </a:solidFill>
                <a:latin typeface="Aptos"/>
              </a:rPr>
              <a:t>hairline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921239" y="2980944"/>
            <a:ext cx="7772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A6A7E"/>
                </a:solidFill>
                <a:latin typeface="Aptos"/>
              </a:rPr>
              <a:t>#E7DFD1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597895" y="2889504"/>
            <a:ext cx="62179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19" b="0">
                <a:solidFill>
                  <a:srgbClr val="5A6A7E"/>
                </a:solidFill>
                <a:latin typeface="Aptos"/>
              </a:rPr>
              <a:t>divider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13232" y="4160520"/>
            <a:ext cx="10716768" cy="1143000"/>
          </a:xfrm>
          <a:prstGeom prst="roundRect">
            <a:avLst/>
          </a:prstGeom>
          <a:solidFill>
            <a:srgbClr val="0E1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87552" y="4462272"/>
            <a:ext cx="1508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E8C46B"/>
                </a:solidFill>
                <a:latin typeface="Aptos"/>
              </a:rPr>
              <a:t>Rule of thumb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514600" y="4434840"/>
            <a:ext cx="818387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20" b="1">
                <a:solidFill>
                  <a:srgbClr val="FFFFFF"/>
                </a:solidFill>
                <a:latin typeface="Aptos"/>
              </a:rPr>
              <a:t>ใช้สีเท่าที่จำเป็น: teal = decision/action, indigo = flow/info, butter = KPI, pumpkin soft = danger without red.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8046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0E1B2C"/>
                </a:solidFill>
                <a:latin typeface="Aptos Display"/>
              </a:rPr>
              <a:t>UI grammar: Humi page anatomy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96112"/>
            <a:ext cx="7772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5A6A7E"/>
                </a:solidFill>
                <a:latin typeface="Aptos"/>
              </a:rPr>
              <a:t>Cream canvas, dark rail, white cards, soft status tags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38404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5A6A7E"/>
                </a:solidFill>
                <a:latin typeface="Aptos"/>
              </a:rPr>
              <a:t>Humi System Design · DESIGN.md · 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10789920" cy="4343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7DF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280160"/>
            <a:ext cx="1965960" cy="4343400"/>
          </a:xfrm>
          <a:prstGeom prst="rect">
            <a:avLst/>
          </a:prstGeom>
          <a:solidFill>
            <a:srgbClr val="0E1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572768"/>
            <a:ext cx="8686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 Display"/>
              </a:rPr>
              <a:t>Humi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32688" y="2029968"/>
            <a:ext cx="1417320" cy="274320"/>
          </a:xfrm>
          <a:prstGeom prst="roundRect">
            <a:avLst/>
          </a:prstGeom>
          <a:solidFill>
            <a:srgbClr val="243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103120"/>
            <a:ext cx="914400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80" b="0">
                <a:solidFill>
                  <a:srgbClr val="E7E3D8"/>
                </a:solidFill>
                <a:latin typeface="Aptos"/>
              </a:rPr>
              <a:t>Employee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2688" y="2468880"/>
            <a:ext cx="1417320" cy="274320"/>
          </a:xfrm>
          <a:prstGeom prst="roundRect">
            <a:avLst/>
          </a:prstGeom>
          <a:solidFill>
            <a:srgbClr val="1FA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2542032"/>
            <a:ext cx="914400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80" b="1">
                <a:solidFill>
                  <a:srgbClr val="0E1B2C"/>
                </a:solidFill>
                <a:latin typeface="Aptos"/>
              </a:rPr>
              <a:t>Time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2688" y="2907792"/>
            <a:ext cx="1417320" cy="274320"/>
          </a:xfrm>
          <a:prstGeom prst="roundRect">
            <a:avLst/>
          </a:prstGeom>
          <a:solidFill>
            <a:srgbClr val="243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2980944"/>
            <a:ext cx="914400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80" b="0">
                <a:solidFill>
                  <a:srgbClr val="E7E3D8"/>
                </a:solidFill>
                <a:latin typeface="Aptos"/>
              </a:rPr>
              <a:t>Payroll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32688" y="3346704"/>
            <a:ext cx="1417320" cy="274320"/>
          </a:xfrm>
          <a:prstGeom prst="roundRect">
            <a:avLst/>
          </a:prstGeom>
          <a:solidFill>
            <a:srgbClr val="243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3419856"/>
            <a:ext cx="914400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80" b="0">
                <a:solidFill>
                  <a:srgbClr val="E7E3D8"/>
                </a:solidFill>
                <a:latin typeface="Aptos"/>
              </a:rPr>
              <a:t>Benefits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2688" y="3785616"/>
            <a:ext cx="1417320" cy="274320"/>
          </a:xfrm>
          <a:prstGeom prst="roundRect">
            <a:avLst/>
          </a:prstGeom>
          <a:solidFill>
            <a:srgbClr val="243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3858768"/>
            <a:ext cx="914400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80" b="0">
                <a:solidFill>
                  <a:srgbClr val="E7E3D8"/>
                </a:solidFill>
                <a:latin typeface="Aptos"/>
              </a:rPr>
              <a:t>Reports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99232" y="1600200"/>
            <a:ext cx="2286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E1B2C"/>
                </a:solidFill>
                <a:latin typeface="Aptos"/>
              </a:rPr>
              <a:t>Time Dashboard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17520" y="1892807"/>
            <a:ext cx="18288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A6A7E"/>
                </a:solidFill>
                <a:latin typeface="Aptos"/>
              </a:rPr>
              <a:t>Today · HR sign-off view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999232" y="2304288"/>
            <a:ext cx="1600200" cy="804672"/>
          </a:xfrm>
          <a:prstGeom prst="roundRect">
            <a:avLst/>
          </a:prstGeom>
          <a:solidFill>
            <a:srgbClr val="D6EE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136391" y="2468880"/>
            <a:ext cx="548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0E1B2C"/>
                </a:solidFill>
                <a:latin typeface="Aptos Display"/>
              </a:rPr>
              <a:t>92%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12463" y="2505456"/>
            <a:ext cx="6858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80" b="0">
                <a:solidFill>
                  <a:srgbClr val="243447"/>
                </a:solidFill>
                <a:latin typeface="Aptos"/>
              </a:rPr>
              <a:t>Timesheet complete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919472" y="2304288"/>
            <a:ext cx="1600200" cy="804672"/>
          </a:xfrm>
          <a:prstGeom prst="round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56632" y="2468880"/>
            <a:ext cx="548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0E1B2C"/>
                </a:solidFill>
                <a:latin typeface="Aptos Display"/>
              </a:rPr>
              <a:t>14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32704" y="2505456"/>
            <a:ext cx="6858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80" b="0">
                <a:solidFill>
                  <a:srgbClr val="243447"/>
                </a:solidFill>
                <a:latin typeface="Aptos"/>
              </a:rPr>
              <a:t>Pending approval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39712" y="2304288"/>
            <a:ext cx="1600200" cy="804672"/>
          </a:xfrm>
          <a:prstGeom prst="roundRect">
            <a:avLst/>
          </a:prstGeom>
          <a:solidFill>
            <a:srgbClr val="FFE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76872" y="2468880"/>
            <a:ext cx="548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0E1B2C"/>
                </a:solidFill>
                <a:latin typeface="Aptos Display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52944" y="2505456"/>
            <a:ext cx="6858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80" b="0">
                <a:solidFill>
                  <a:srgbClr val="243447"/>
                </a:solidFill>
                <a:latin typeface="Aptos"/>
              </a:rPr>
              <a:t>Returned items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999232" y="3401568"/>
            <a:ext cx="5166360" cy="1600200"/>
          </a:xfrm>
          <a:prstGeom prst="roundRect">
            <a:avLst/>
          </a:prstGeom>
          <a:solidFill>
            <a:srgbClr val="FCFAF5"/>
          </a:solidFill>
          <a:ln w="10160">
            <a:solidFill>
              <a:srgbClr val="E7DF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46120" y="3630168"/>
            <a:ext cx="10058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0E1B2C"/>
                </a:solidFill>
                <a:latin typeface="Aptos"/>
              </a:rPr>
              <a:t>Somchai P.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257800" y="3593592"/>
            <a:ext cx="868680" cy="201168"/>
          </a:xfrm>
          <a:prstGeom prst="round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330952" y="3648456"/>
            <a:ext cx="621792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60" b="0">
                <a:solidFill>
                  <a:srgbClr val="0E1B2C"/>
                </a:solidFill>
                <a:latin typeface="Aptos"/>
              </a:rPr>
              <a:t>Approved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3182112" y="3886200"/>
            <a:ext cx="4681728" cy="0"/>
          </a:xfrm>
          <a:prstGeom prst="line">
            <a:avLst/>
          </a:prstGeom>
          <a:ln w="6350">
            <a:solidFill>
              <a:srgbClr val="E7DF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3246120" y="4041648"/>
            <a:ext cx="10058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0E1B2C"/>
                </a:solidFill>
                <a:latin typeface="Aptos"/>
              </a:rPr>
              <a:t>Narin K.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257800" y="4005072"/>
            <a:ext cx="868680" cy="201168"/>
          </a:xfrm>
          <a:prstGeom prst="round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330952" y="4059935"/>
            <a:ext cx="621792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60" b="0">
                <a:solidFill>
                  <a:srgbClr val="0E1B2C"/>
                </a:solidFill>
                <a:latin typeface="Aptos"/>
              </a:rPr>
              <a:t>Pending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3182112" y="4297680"/>
            <a:ext cx="4681728" cy="0"/>
          </a:xfrm>
          <a:prstGeom prst="line">
            <a:avLst/>
          </a:prstGeom>
          <a:ln w="6350">
            <a:solidFill>
              <a:srgbClr val="E7DF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3246120" y="4453128"/>
            <a:ext cx="10058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0E1B2C"/>
                </a:solidFill>
                <a:latin typeface="Aptos"/>
              </a:rPr>
              <a:t>Mali S.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257800" y="4416552"/>
            <a:ext cx="868680" cy="201168"/>
          </a:xfrm>
          <a:prstGeom prst="roundRect">
            <a:avLst/>
          </a:prstGeom>
          <a:solidFill>
            <a:srgbClr val="FFE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330952" y="4471416"/>
            <a:ext cx="621792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60" b="0">
                <a:solidFill>
                  <a:srgbClr val="9A3412"/>
                </a:solidFill>
                <a:latin typeface="Aptos"/>
              </a:rPr>
              <a:t>Return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3182112" y="4709160"/>
            <a:ext cx="4681728" cy="0"/>
          </a:xfrm>
          <a:prstGeom prst="line">
            <a:avLst/>
          </a:prstGeom>
          <a:ln w="6350">
            <a:solidFill>
              <a:srgbClr val="E7DF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8549640" y="2304288"/>
            <a:ext cx="2331720" cy="2697480"/>
          </a:xfrm>
          <a:prstGeom prst="roundRect">
            <a:avLst/>
          </a:prstGeom>
          <a:solidFill>
            <a:srgbClr val="D6EE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833104" y="2578608"/>
            <a:ext cx="13258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E1B2C"/>
                </a:solidFill>
                <a:latin typeface="Aptos"/>
              </a:rPr>
              <a:t>Presenter note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833104" y="2907792"/>
            <a:ext cx="15087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243447"/>
                </a:solidFill>
                <a:latin typeface="Aptos"/>
              </a:rPr>
              <a:t>Show component hierarchy first, then business status. Avoid raw hex and legacy red.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8046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0E1B2C"/>
                </a:solidFill>
                <a:latin typeface="Aptos Display"/>
              </a:rPr>
              <a:t>Presentation recipe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96112"/>
            <a:ext cx="7772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5A6A7E"/>
                </a:solidFill>
                <a:latin typeface="Aptos"/>
              </a:rPr>
              <a:t>ใช้ Humi tokens ทำ executive deck ให้ดูเหมือน product system เดียวกัน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38404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5A6A7E"/>
                </a:solidFill>
                <a:latin typeface="Aptos"/>
              </a:rPr>
              <a:t>Humi System Design · DESIGN.md · 04</a:t>
            </a:r>
          </a:p>
        </p:txBody>
      </p:sp>
      <p:sp>
        <p:nvSpPr>
          <p:cNvPr id="6" name="Oval 5"/>
          <p:cNvSpPr/>
          <p:nvPr/>
        </p:nvSpPr>
        <p:spPr>
          <a:xfrm>
            <a:off x="1298448" y="1600200"/>
            <a:ext cx="658368" cy="658368"/>
          </a:xfrm>
          <a:prstGeom prst="ellipse">
            <a:avLst/>
          </a:prstGeom>
          <a:solidFill>
            <a:srgbClr val="0E1B2C"/>
          </a:solidFill>
          <a:ln w="6350">
            <a:solidFill>
              <a:srgbClr val="E7DF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98448" y="1764792"/>
            <a:ext cx="658368" cy="91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029967" y="1929384"/>
            <a:ext cx="758953" cy="0"/>
          </a:xfrm>
          <a:prstGeom prst="line">
            <a:avLst/>
          </a:prstGeom>
          <a:ln w="17780">
            <a:solidFill>
              <a:srgbClr val="E7DF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60120" y="2487168"/>
            <a:ext cx="13258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0E1B2C"/>
                </a:solidFill>
                <a:latin typeface="Aptos"/>
              </a:rPr>
              <a:t>Cover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770632"/>
            <a:ext cx="160934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40" b="0">
                <a:solidFill>
                  <a:srgbClr val="5A6A7E"/>
                </a:solidFill>
                <a:latin typeface="Aptos"/>
              </a:rPr>
              <a:t>Ink background + teal/butter accents</a:t>
            </a:r>
          </a:p>
        </p:txBody>
      </p:sp>
      <p:sp>
        <p:nvSpPr>
          <p:cNvPr id="11" name="Oval 10"/>
          <p:cNvSpPr/>
          <p:nvPr/>
        </p:nvSpPr>
        <p:spPr>
          <a:xfrm>
            <a:off x="3511296" y="1600200"/>
            <a:ext cx="658368" cy="658368"/>
          </a:xfrm>
          <a:prstGeom prst="ellipse">
            <a:avLst/>
          </a:prstGeom>
          <a:solidFill>
            <a:srgbClr val="1FA8A0"/>
          </a:solidFill>
          <a:ln w="6350">
            <a:solidFill>
              <a:srgbClr val="E7DF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11296" y="1764792"/>
            <a:ext cx="658368" cy="91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0E1B2C"/>
                </a:solidFill>
                <a:latin typeface="Aptos"/>
              </a:rPr>
              <a:t>2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242816" y="1929384"/>
            <a:ext cx="758952" cy="0"/>
          </a:xfrm>
          <a:prstGeom prst="line">
            <a:avLst/>
          </a:prstGeom>
          <a:ln w="17780">
            <a:solidFill>
              <a:srgbClr val="E7DF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3172968" y="2487168"/>
            <a:ext cx="13258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0E1B2C"/>
                </a:solidFill>
                <a:latin typeface="Aptos"/>
              </a:rPr>
              <a:t>Decision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35808" y="2770632"/>
            <a:ext cx="160934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40" b="0">
                <a:solidFill>
                  <a:srgbClr val="5A6A7E"/>
                </a:solidFill>
                <a:latin typeface="Aptos"/>
              </a:rPr>
              <a:t>Cream page + white cards + teal CTA</a:t>
            </a:r>
          </a:p>
        </p:txBody>
      </p:sp>
      <p:sp>
        <p:nvSpPr>
          <p:cNvPr id="16" name="Oval 15"/>
          <p:cNvSpPr/>
          <p:nvPr/>
        </p:nvSpPr>
        <p:spPr>
          <a:xfrm>
            <a:off x="5724144" y="1600200"/>
            <a:ext cx="658368" cy="658368"/>
          </a:xfrm>
          <a:prstGeom prst="ellipse">
            <a:avLst/>
          </a:prstGeom>
          <a:solidFill>
            <a:srgbClr val="5B6CE0"/>
          </a:solidFill>
          <a:ln w="6350">
            <a:solidFill>
              <a:srgbClr val="E7DF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24144" y="1764792"/>
            <a:ext cx="658368" cy="91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455664" y="1929384"/>
            <a:ext cx="758952" cy="0"/>
          </a:xfrm>
          <a:prstGeom prst="line">
            <a:avLst/>
          </a:prstGeom>
          <a:ln w="17780">
            <a:solidFill>
              <a:srgbClr val="E7DF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385816" y="2487168"/>
            <a:ext cx="13258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0E1B2C"/>
                </a:solidFill>
                <a:latin typeface="Aptos"/>
              </a:rPr>
              <a:t>Flow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48655" y="2770632"/>
            <a:ext cx="160934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40" b="0">
                <a:solidFill>
                  <a:srgbClr val="5A6A7E"/>
                </a:solidFill>
                <a:latin typeface="Aptos"/>
              </a:rPr>
              <a:t>Indigo nodes + hairline connectors</a:t>
            </a:r>
          </a:p>
        </p:txBody>
      </p:sp>
      <p:sp>
        <p:nvSpPr>
          <p:cNvPr id="21" name="Oval 20"/>
          <p:cNvSpPr/>
          <p:nvPr/>
        </p:nvSpPr>
        <p:spPr>
          <a:xfrm>
            <a:off x="7936992" y="1600200"/>
            <a:ext cx="658368" cy="658368"/>
          </a:xfrm>
          <a:prstGeom prst="ellipse">
            <a:avLst/>
          </a:prstGeom>
          <a:solidFill>
            <a:srgbClr val="E8C46B"/>
          </a:solidFill>
          <a:ln w="6350">
            <a:solidFill>
              <a:srgbClr val="E7DF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36992" y="1764792"/>
            <a:ext cx="658368" cy="91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0E1B2C"/>
                </a:solidFill>
                <a:latin typeface="Aptos"/>
              </a:rPr>
              <a:t>4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668512" y="1929384"/>
            <a:ext cx="758952" cy="0"/>
          </a:xfrm>
          <a:prstGeom prst="line">
            <a:avLst/>
          </a:prstGeom>
          <a:ln w="17780">
            <a:solidFill>
              <a:srgbClr val="E7DF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7598664" y="2487168"/>
            <a:ext cx="13258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0E1B2C"/>
                </a:solidFill>
                <a:latin typeface="Aptos"/>
              </a:rPr>
              <a:t>KPI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61504" y="2770632"/>
            <a:ext cx="160934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40" b="0">
                <a:solidFill>
                  <a:srgbClr val="5A6A7E"/>
                </a:solidFill>
                <a:latin typeface="Aptos"/>
              </a:rPr>
              <a:t>Butter metric cards, mono numbers</a:t>
            </a:r>
          </a:p>
        </p:txBody>
      </p:sp>
      <p:sp>
        <p:nvSpPr>
          <p:cNvPr id="26" name="Oval 25"/>
          <p:cNvSpPr/>
          <p:nvPr/>
        </p:nvSpPr>
        <p:spPr>
          <a:xfrm>
            <a:off x="10149840" y="1600200"/>
            <a:ext cx="658368" cy="658368"/>
          </a:xfrm>
          <a:prstGeom prst="ellipse">
            <a:avLst/>
          </a:prstGeom>
          <a:solidFill>
            <a:srgbClr val="FFEDD5"/>
          </a:solidFill>
          <a:ln w="6350">
            <a:solidFill>
              <a:srgbClr val="E7DF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149840" y="1764792"/>
            <a:ext cx="658368" cy="91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0E1B2C"/>
                </a:solidFill>
                <a:latin typeface="Aptos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11512" y="2487168"/>
            <a:ext cx="13258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0E1B2C"/>
                </a:solidFill>
                <a:latin typeface="Aptos"/>
              </a:rPr>
              <a:t>Risks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74352" y="2770632"/>
            <a:ext cx="160934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40" b="0">
                <a:solidFill>
                  <a:srgbClr val="5A6A7E"/>
                </a:solidFill>
                <a:latin typeface="Aptos"/>
              </a:rPr>
              <a:t>Danger-soft tags, no red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05840" y="4279392"/>
            <a:ext cx="10012680" cy="10789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7DF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98448" y="4553712"/>
            <a:ext cx="16276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1FA8A0"/>
                </a:solidFill>
                <a:latin typeface="Aptos"/>
              </a:rPr>
              <a:t>Design prompt for agents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07792" y="4498848"/>
            <a:ext cx="7269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0E1B2C"/>
                </a:solidFill>
                <a:latin typeface="Aptos"/>
              </a:rPr>
              <a:t>“Use Humi System Design: cream canvas, navy ink, teal decisions, indigo flow, butter KPIs, rounded white cards, no red family.”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8046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0E1B2C"/>
                </a:solidFill>
                <a:latin typeface="Aptos Display"/>
              </a:rPr>
              <a:t>Applied example: executive-ready slide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96112"/>
            <a:ext cx="7772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5A6A7E"/>
                </a:solidFill>
                <a:latin typeface="Aptos"/>
              </a:rPr>
              <a:t>ตัวอย่าง slide ที่ใช้ Humi token แล้วอ่านง่ายสำหรับผู้บริหาร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38404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5A6A7E"/>
                </a:solidFill>
                <a:latin typeface="Aptos"/>
              </a:rPr>
              <a:t>Humi System Design · DESIGN.md · 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8" y="1234440"/>
            <a:ext cx="3749039" cy="4343400"/>
          </a:xfrm>
          <a:prstGeom prst="roundRect">
            <a:avLst/>
          </a:prstGeom>
          <a:solidFill>
            <a:srgbClr val="0E1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78992" y="1572768"/>
            <a:ext cx="1691640" cy="310896"/>
          </a:xfrm>
          <a:prstGeom prst="roundRect">
            <a:avLst/>
          </a:prstGeom>
          <a:solidFill>
            <a:srgbClr val="1FA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24712" y="1650492"/>
            <a:ext cx="1600200" cy="91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1">
                <a:solidFill>
                  <a:srgbClr val="0E1B2C"/>
                </a:solidFill>
                <a:latin typeface="Aptos"/>
              </a:rPr>
              <a:t>EXECUTIVE DECISION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148840"/>
            <a:ext cx="256032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Aptos Display"/>
              </a:rPr>
              <a:t>AI-Native Hiring Framework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017520"/>
            <a:ext cx="26974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E7E3D8"/>
                </a:solidFill>
                <a:latin typeface="Aptos"/>
              </a:rPr>
              <a:t>เลือกคนที่คิดเป็น คุม AI ได้ และส่งมอบ value ได้จริง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15568" y="3977639"/>
            <a:ext cx="1143000" cy="658368"/>
          </a:xfrm>
          <a:prstGeom prst="roundRect">
            <a:avLst/>
          </a:prstGeom>
          <a:solidFill>
            <a:srgbClr val="243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34440" y="4114800"/>
            <a:ext cx="320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1FA8A0"/>
                </a:solidFill>
                <a:latin typeface="Aptos Display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4151376"/>
            <a:ext cx="50292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30" b="0">
                <a:solidFill>
                  <a:srgbClr val="E7E3D8"/>
                </a:solidFill>
                <a:latin typeface="Aptos"/>
              </a:rPr>
              <a:t>target hires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532888" y="3977639"/>
            <a:ext cx="1143000" cy="658368"/>
          </a:xfrm>
          <a:prstGeom prst="roundRect">
            <a:avLst/>
          </a:prstGeom>
          <a:solidFill>
            <a:srgbClr val="243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51760" y="4114800"/>
            <a:ext cx="320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E8C46B"/>
                </a:solidFill>
                <a:latin typeface="Aptos Display"/>
              </a:rPr>
              <a:t>20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4151376"/>
            <a:ext cx="50292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30" b="0">
                <a:solidFill>
                  <a:srgbClr val="E7E3D8"/>
                </a:solidFill>
                <a:latin typeface="Aptos"/>
              </a:rPr>
              <a:t>score gate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892040" y="1417320"/>
            <a:ext cx="6144768" cy="868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7DF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166360" y="1636776"/>
            <a:ext cx="402336" cy="402336"/>
          </a:xfrm>
          <a:prstGeom prst="roundRect">
            <a:avLst/>
          </a:prstGeom>
          <a:solidFill>
            <a:srgbClr val="D6EE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06440" y="1627632"/>
            <a:ext cx="1417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E1B2C"/>
                </a:solidFill>
                <a:latin typeface="Aptos"/>
              </a:rPr>
              <a:t>Think first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50608" y="1627632"/>
            <a:ext cx="32461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19" b="0">
                <a:solidFill>
                  <a:srgbClr val="243447"/>
                </a:solidFill>
                <a:latin typeface="Aptos"/>
              </a:rPr>
              <a:t>ถามหาปัญหาและ user pain ก่อนเลือก tool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892040" y="2560320"/>
            <a:ext cx="6144768" cy="868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7DF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166360" y="2779776"/>
            <a:ext cx="402336" cy="402336"/>
          </a:xfrm>
          <a:prstGeom prst="roundRect">
            <a:avLst/>
          </a:prstGeom>
          <a:solidFill>
            <a:srgbClr val="E1E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806440" y="2770632"/>
            <a:ext cx="1417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E1B2C"/>
                </a:solidFill>
                <a:latin typeface="Aptos"/>
              </a:rPr>
              <a:t>Control AI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50608" y="2770632"/>
            <a:ext cx="32461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19" b="0">
                <a:solidFill>
                  <a:srgbClr val="243447"/>
                </a:solidFill>
                <a:latin typeface="Aptos"/>
              </a:rPr>
              <a:t>ใช้ AI เป็น co-pilot แต่ตรวจและรับผิดชอบเอง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892040" y="3703320"/>
            <a:ext cx="6144768" cy="868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7DF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166360" y="3922776"/>
            <a:ext cx="402336" cy="402336"/>
          </a:xfrm>
          <a:prstGeom prst="round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806440" y="3913632"/>
            <a:ext cx="1417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E1B2C"/>
                </a:solidFill>
                <a:latin typeface="Aptos"/>
              </a:rPr>
              <a:t>Deliver value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50608" y="3913632"/>
            <a:ext cx="32461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19" b="0">
                <a:solidFill>
                  <a:srgbClr val="243447"/>
                </a:solidFill>
                <a:latin typeface="Aptos"/>
              </a:rPr>
              <a:t>เลือก MVP, trade-off และวัด business impact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892040" y="5010912"/>
            <a:ext cx="6144768" cy="530352"/>
          </a:xfrm>
          <a:prstGeom prst="roundRect">
            <a:avLst/>
          </a:prstGeom>
          <a:solidFill>
            <a:srgbClr val="1FA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93792" y="5184648"/>
            <a:ext cx="5486400" cy="91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1">
                <a:solidFill>
                  <a:srgbClr val="0E1B2C"/>
                </a:solidFill>
                <a:latin typeface="Aptos"/>
              </a:rPr>
              <a:t>Humi presentation style = fewer words, stronger hierarchy, token-consistent visuals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8046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Aptos Display"/>
              </a:rPr>
              <a:t>Use it as the system prompt for UI and decks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96112"/>
            <a:ext cx="7772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E7E3D8"/>
                </a:solidFill>
                <a:latin typeface="Aptos"/>
              </a:rPr>
              <a:t>DESIGN.md is now clean enough to inject into agents or presentation generators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38404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E7E3D8"/>
                </a:solidFill>
                <a:latin typeface="Aptos"/>
              </a:rPr>
              <a:t>Humi System Design · DESIGN.md · 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2971800" cy="2468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51560" y="2084831"/>
            <a:ext cx="493776" cy="493776"/>
          </a:xfrm>
          <a:prstGeom prst="roundRect">
            <a:avLst/>
          </a:prstGeom>
          <a:solidFill>
            <a:srgbClr val="1FA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700784" y="2103120"/>
            <a:ext cx="1417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E1B2C"/>
                </a:solidFill>
                <a:latin typeface="Aptos"/>
              </a:rPr>
              <a:t>UI generation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" y="2788920"/>
            <a:ext cx="22402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243447"/>
                </a:solidFill>
                <a:latin typeface="Aptos"/>
              </a:rPr>
              <a:t>Start from Humi primitives: page, sidebar, card, input, tags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1828800"/>
            <a:ext cx="2971800" cy="2468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709160" y="2084831"/>
            <a:ext cx="493776" cy="493776"/>
          </a:xfrm>
          <a:prstGeom prst="roundRect">
            <a:avLst/>
          </a:prstGeom>
          <a:solidFill>
            <a:srgbClr val="E8C4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58384" y="2103120"/>
            <a:ext cx="1417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E1B2C"/>
                </a:solidFill>
                <a:latin typeface="Aptos"/>
              </a:rPr>
              <a:t>Presentation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91456" y="2788920"/>
            <a:ext cx="22402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243447"/>
                </a:solidFill>
                <a:latin typeface="Aptos"/>
              </a:rPr>
              <a:t>Use cover/content/flow/KPI recipe and avoid dense text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828800"/>
            <a:ext cx="2971800" cy="2468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366760" y="2084831"/>
            <a:ext cx="493776" cy="493776"/>
          </a:xfrm>
          <a:prstGeom prst="roundRect">
            <a:avLst/>
          </a:prstGeom>
          <a:solidFill>
            <a:srgbClr val="5B6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15984" y="2103120"/>
            <a:ext cx="1417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E1B2C"/>
                </a:solidFill>
                <a:latin typeface="Aptos"/>
              </a:rPr>
              <a:t>QA guardrail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49056" y="2788920"/>
            <a:ext cx="22402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243447"/>
                </a:solidFill>
                <a:latin typeface="Aptos"/>
              </a:rPr>
              <a:t>Lint DESIGN.md + visual QA contact sheet before delivery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5074920"/>
            <a:ext cx="10241280" cy="566928"/>
          </a:xfrm>
          <a:prstGeom prst="roundRect">
            <a:avLst/>
          </a:prstGeom>
          <a:solidFill>
            <a:srgbClr val="1FA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5257800"/>
            <a:ext cx="973836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50" b="1">
                <a:solidFill>
                  <a:srgbClr val="0E1B2C"/>
                </a:solidFill>
                <a:latin typeface="Aptos"/>
              </a:rPr>
              <a:t>Ready: curated DESIGN.md → Tailwind/DTCG export → editable PowerPoint sample → visual QA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